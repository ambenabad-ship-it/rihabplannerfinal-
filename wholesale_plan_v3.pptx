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200" b="1" i="0">
                <a:solidFill>
                  <a:srgbClr val="1F2937"/>
                </a:solidFill>
                <a:latin typeface="zSystems"/>
              </a:rPr>
              <a:t>Sommaire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18288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800" b="1" i="0">
                <a:solidFill>
                  <a:srgbClr val="1F2937"/>
                </a:solidFill>
                <a:latin typeface="zSystem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6634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zSystems"/>
              </a:rPr>
              <a:t>Focus Produits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92040"/>
            <a:ext cx="46634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23 produits prioritaires entre Food et Non Food.</a:t>
            </a:r>
          </a:p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10 produits a valider sur la periode Mai-Juin (5 minimum / mois).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5394960" cy="4023360"/>
          </a:xfrm>
          <a:prstGeom prst="roundRect">
            <a:avLst>
              <a:gd name="adj" fmla="val 6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18288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  <a:latin typeface="zSystem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466344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zSystems"/>
              </a:rPr>
              <a:t>Paliers de chiffre d'affaires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92040"/>
            <a:ext cx="466344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Roue de la fortune et bouquets cadeaux.</a:t>
            </a:r>
          </a:p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Des paliers de CA qui debloquent des recompenses a forte valeur.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Focus produits Mai / Juin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10 produits a passer entre Mai et Juin  -  minimum 5 produits par mois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3566160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zSystem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566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PRODUITS FOCUS / 2 MOIS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4688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3566160" cy="12801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zSystem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840480"/>
            <a:ext cx="3566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PRODUITS / MOIS (MIN.)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4688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2719375"/>
            <a:ext cx="3566160" cy="114492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7200" b="1" i="0" dirty="0">
                <a:solidFill>
                  <a:srgbClr val="1F2937"/>
                </a:solidFill>
                <a:latin typeface="zSystems"/>
              </a:rPr>
              <a:t>2</a:t>
            </a:r>
            <a:r>
              <a:rPr lang="gsw-FR" sz="7200" b="1" i="0" dirty="0">
                <a:solidFill>
                  <a:srgbClr val="1F2937"/>
                </a:solidFill>
                <a:latin typeface="zSystems"/>
              </a:rPr>
              <a:t>5</a:t>
            </a:r>
            <a:endParaRPr sz="7200" b="1" i="0" dirty="0">
              <a:solidFill>
                <a:srgbClr val="1F2937"/>
              </a:solidFill>
              <a:latin typeface="zSystem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38160" y="3840480"/>
            <a:ext cx="356616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PRODUITS DISPONIBLES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zSystems"/>
              </a:rPr>
              <a:t>Reparti sur deux familles : Food &amp; Non Food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20640"/>
            <a:ext cx="5486400" cy="1280160"/>
          </a:xfrm>
          <a:prstGeom prst="roundRect">
            <a:avLst>
              <a:gd name="adj" fmla="val 30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285232"/>
            <a:ext cx="47548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zSystems"/>
              </a:rPr>
              <a:t>Non Food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833872"/>
            <a:ext cx="475488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Calibri"/>
              </a:rPr>
              <a:t>1</a:t>
            </a:r>
            <a:r>
              <a:rPr lang="gsw-FR" sz="1400" b="0" i="0" dirty="0">
                <a:solidFill>
                  <a:srgbClr val="FFFFFF"/>
                </a:solidFill>
                <a:latin typeface="Calibri"/>
              </a:rPr>
              <a:t>5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references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prioritaires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09360" y="5120640"/>
            <a:ext cx="5303520" cy="1280160"/>
          </a:xfrm>
          <a:prstGeom prst="roundRect">
            <a:avLst>
              <a:gd name="adj" fmla="val 30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5285232"/>
            <a:ext cx="4572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zSystems"/>
              </a:rPr>
              <a:t>Food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833872"/>
            <a:ext cx="4572000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gsw-FR" sz="1400" b="0" i="0" dirty="0">
                <a:solidFill>
                  <a:srgbClr val="FFFFFF"/>
                </a:solidFill>
                <a:latin typeface="Calibri"/>
              </a:rPr>
              <a:t>10</a:t>
            </a:r>
            <a:r>
              <a:rPr sz="1400" b="0" i="0" dirty="0">
                <a:solidFill>
                  <a:srgbClr val="FFFFFF"/>
                </a:solidFill>
                <a:latin typeface="Calibri"/>
              </a:rPr>
              <a:t> references </a:t>
            </a:r>
            <a:r>
              <a:rPr sz="1400" b="0" i="0" dirty="0" err="1">
                <a:solidFill>
                  <a:srgbClr val="FFFFFF"/>
                </a:solidFill>
                <a:latin typeface="Calibri"/>
              </a:rPr>
              <a:t>prioritaires</a:t>
            </a:r>
            <a:endParaRPr sz="14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600" b="1" i="0">
                <a:solidFill>
                  <a:srgbClr val="1F2937"/>
                </a:solidFill>
                <a:latin typeface="zSystems"/>
              </a:rPr>
              <a:t>Liste des produits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103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23 references priorisees - quantites minimum par reference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11956"/>
            <a:ext cx="5577840" cy="50444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711956"/>
            <a:ext cx="5577840" cy="5029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766820"/>
            <a:ext cx="502920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zSystems"/>
              </a:rPr>
              <a:t>Non Food  -  1</a:t>
            </a:r>
            <a:r>
              <a:rPr lang="gsw-FR" sz="1800" b="1" i="0" dirty="0">
                <a:solidFill>
                  <a:srgbClr val="FFFFFF"/>
                </a:solidFill>
                <a:latin typeface="zSystems"/>
              </a:rPr>
              <a:t>5</a:t>
            </a:r>
            <a:r>
              <a:rPr sz="1800" b="1" i="0" dirty="0">
                <a:solidFill>
                  <a:srgbClr val="FFFFFF"/>
                </a:solidFill>
                <a:latin typeface="zSystems"/>
              </a:rPr>
              <a:t>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0631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F7624A"/>
                </a:solidFill>
                <a:latin typeface="Calibri"/>
              </a:rPr>
              <a:t>Produit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676" y="2306316"/>
            <a:ext cx="178490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Min.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562348"/>
            <a:ext cx="53035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58063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Dalaa VP / Baqqal / 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7892" y="258063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10 000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5495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Calin RP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7892" y="285495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10 000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10988"/>
            <a:ext cx="53035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12927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Mio main (1k+500gr)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7892" y="312927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10 000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0359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7892" y="340359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10 000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59628"/>
            <a:ext cx="53035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67791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Calin VP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7892" y="367791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5 000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5223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Nova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7892" y="395223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5 000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208268"/>
            <a:ext cx="53035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22655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Prima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7892" y="422655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5 000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0087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Mio Liquid Vaisselle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7892" y="450087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5 000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756908"/>
            <a:ext cx="53035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77519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Mio Javel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7892" y="477519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2 000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04951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Douceur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7892" y="504951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5 000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305548"/>
            <a:ext cx="53035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4400" y="532383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Mio Matic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7892" y="532383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5 000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59815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Papillon Papier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7892" y="559815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5 000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854188"/>
            <a:ext cx="53035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587247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SANGO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07892" y="587247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5 000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6146796"/>
            <a:ext cx="345826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Blandoux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07892" y="6146796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5 000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1711956"/>
            <a:ext cx="5120640" cy="50444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00800" y="1711956"/>
            <a:ext cx="5120640" cy="502920"/>
          </a:xfrm>
          <a:prstGeom prst="rect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0" y="1766820"/>
            <a:ext cx="457200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 dirty="0">
                <a:solidFill>
                  <a:srgbClr val="FFFFFF"/>
                </a:solidFill>
                <a:latin typeface="zSystems"/>
              </a:rPr>
              <a:t>Food  -  </a:t>
            </a:r>
            <a:r>
              <a:rPr lang="gsw-FR" b="1" dirty="0">
                <a:solidFill>
                  <a:srgbClr val="FFFFFF"/>
                </a:solidFill>
                <a:latin typeface="zSystems"/>
              </a:rPr>
              <a:t>10</a:t>
            </a:r>
            <a:r>
              <a:rPr sz="1800" b="1" i="0" dirty="0">
                <a:solidFill>
                  <a:srgbClr val="FFFFFF"/>
                </a:solidFill>
                <a:latin typeface="zSystems"/>
              </a:rPr>
              <a:t> references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2306316"/>
            <a:ext cx="31747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 i="0">
                <a:solidFill>
                  <a:srgbClr val="3B8083"/>
                </a:solidFill>
                <a:latin typeface="Calibri"/>
              </a:rPr>
              <a:t>Produit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29216" y="2306316"/>
            <a:ext cx="1638604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3B8083"/>
                </a:solidFill>
                <a:latin typeface="Calibri"/>
              </a:rPr>
              <a:t>Min.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2562348"/>
            <a:ext cx="48463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75120" y="2580636"/>
            <a:ext cx="31747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Shiwame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17152" y="2580636"/>
            <a:ext cx="21506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3B8083"/>
                </a:solidFill>
                <a:latin typeface="Calibri"/>
              </a:rPr>
              <a:t>5 000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2854956"/>
            <a:ext cx="31747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Kelloggs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17152" y="2854956"/>
            <a:ext cx="21506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3B8083"/>
                </a:solidFill>
                <a:latin typeface="Calibri"/>
              </a:rPr>
              <a:t>5 000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7960" y="3110988"/>
            <a:ext cx="48463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75120" y="3129276"/>
            <a:ext cx="31747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Shiwame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17152" y="3129276"/>
            <a:ext cx="21506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3B8083"/>
                </a:solidFill>
                <a:latin typeface="Calibri"/>
              </a:rPr>
              <a:t>5 000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3403596"/>
            <a:ext cx="31747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Al Itkrans + Presto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17152" y="3403596"/>
            <a:ext cx="21506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3B8083"/>
                </a:solidFill>
                <a:latin typeface="Calibri"/>
              </a:rPr>
              <a:t>5 000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37960" y="3659628"/>
            <a:ext cx="48463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675120" y="3677916"/>
            <a:ext cx="31747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the Al Itkane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17152" y="3677916"/>
            <a:ext cx="21506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3B8083"/>
                </a:solidFill>
                <a:latin typeface="Calibri"/>
              </a:rPr>
              <a:t>5 000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3952236"/>
            <a:ext cx="31747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Tobigo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17152" y="3952236"/>
            <a:ext cx="21506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3B8083"/>
                </a:solidFill>
                <a:latin typeface="Calibri"/>
              </a:rPr>
              <a:t>5 000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37960" y="4208268"/>
            <a:ext cx="48463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675120" y="4226556"/>
            <a:ext cx="31747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TAJ SAHARA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17152" y="4226556"/>
            <a:ext cx="21506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3B8083"/>
                </a:solidFill>
                <a:latin typeface="Calibri"/>
              </a:rPr>
              <a:t>4 000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4500876"/>
            <a:ext cx="31747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Maresol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17152" y="4500876"/>
            <a:ext cx="21506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 dirty="0">
                <a:solidFill>
                  <a:srgbClr val="3B8083"/>
                </a:solidFill>
                <a:latin typeface="Calibri"/>
              </a:rPr>
              <a:t>5 000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37960" y="4756908"/>
            <a:ext cx="48463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675120" y="4775196"/>
            <a:ext cx="3174796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TAKYS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17152" y="4775196"/>
            <a:ext cx="2150668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3B8083"/>
                </a:solidFill>
                <a:latin typeface="Calibri"/>
              </a:rPr>
              <a:t>2 000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AC0964E-8D87-AA5D-330E-A50675A5D027}"/>
              </a:ext>
            </a:extLst>
          </p:cNvPr>
          <p:cNvSpPr/>
          <p:nvPr/>
        </p:nvSpPr>
        <p:spPr>
          <a:xfrm>
            <a:off x="785707" y="6362189"/>
            <a:ext cx="5303520" cy="256032"/>
          </a:xfrm>
          <a:prstGeom prst="rect">
            <a:avLst/>
          </a:prstGeom>
          <a:solidFill>
            <a:srgbClr val="FF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9B1666B-A932-158D-7252-629DCF1F0557}"/>
              </a:ext>
            </a:extLst>
          </p:cNvPr>
          <p:cNvSpPr txBox="1"/>
          <p:nvPr/>
        </p:nvSpPr>
        <p:spPr>
          <a:xfrm>
            <a:off x="922867" y="6380477"/>
            <a:ext cx="34582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gsw-FR" sz="1100" b="0" i="0" dirty="0">
                <a:solidFill>
                  <a:srgbClr val="1F2937"/>
                </a:solidFill>
                <a:latin typeface="Calibri"/>
              </a:rPr>
              <a:t>Tawil</a:t>
            </a:r>
            <a:endParaRPr sz="1100" b="0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B46CAB-7C93-3E5B-8984-257D91BC66BF}"/>
              </a:ext>
            </a:extLst>
          </p:cNvPr>
          <p:cNvSpPr txBox="1"/>
          <p:nvPr/>
        </p:nvSpPr>
        <p:spPr>
          <a:xfrm>
            <a:off x="3716359" y="6380477"/>
            <a:ext cx="2342692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100" b="1" i="0">
                <a:solidFill>
                  <a:srgbClr val="F7624A"/>
                </a:solidFill>
                <a:latin typeface="Calibri"/>
              </a:rPr>
              <a:t>5 000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B3A8037-A5C4-9327-E107-D8EAF3FCE228}"/>
              </a:ext>
            </a:extLst>
          </p:cNvPr>
          <p:cNvSpPr txBox="1"/>
          <p:nvPr/>
        </p:nvSpPr>
        <p:spPr>
          <a:xfrm>
            <a:off x="6692051" y="5025810"/>
            <a:ext cx="3174796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gsw-FR" sz="1100" b="0" i="0" dirty="0">
                <a:solidFill>
                  <a:srgbClr val="1F2937"/>
                </a:solidFill>
                <a:latin typeface="Calibri"/>
              </a:rPr>
              <a:t>Fromy</a:t>
            </a:r>
            <a:endParaRPr sz="1100" b="0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3EE9502-0B4E-F84E-A553-1EF9958DCFCF}"/>
              </a:ext>
            </a:extLst>
          </p:cNvPr>
          <p:cNvSpPr txBox="1"/>
          <p:nvPr/>
        </p:nvSpPr>
        <p:spPr>
          <a:xfrm>
            <a:off x="9234083" y="5025810"/>
            <a:ext cx="2150668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lang="gsw-FR" sz="1100" b="1" i="0" dirty="0">
                <a:solidFill>
                  <a:srgbClr val="3B8083"/>
                </a:solidFill>
                <a:latin typeface="Calibri"/>
              </a:rPr>
              <a:t>2</a:t>
            </a:r>
            <a:r>
              <a:rPr sz="1100" b="1" i="0" dirty="0">
                <a:solidFill>
                  <a:srgbClr val="3B8083"/>
                </a:solidFill>
                <a:latin typeface="Calibri"/>
              </a:rPr>
              <a:t> 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Paliers de chiffre d'affaires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 dirty="0">
                <a:solidFill>
                  <a:srgbClr val="6B7280"/>
                </a:solidFill>
                <a:latin typeface="Calibri"/>
              </a:rPr>
              <a:t>Plus le client </a:t>
            </a:r>
            <a:r>
              <a:rPr sz="1800" b="0" i="1" dirty="0" err="1">
                <a:solidFill>
                  <a:srgbClr val="6B7280"/>
                </a:solidFill>
                <a:latin typeface="Calibri"/>
              </a:rPr>
              <a:t>achete</a:t>
            </a:r>
            <a:r>
              <a:rPr sz="1800" b="0" i="1" dirty="0">
                <a:solidFill>
                  <a:srgbClr val="6B7280"/>
                </a:solidFill>
                <a:latin typeface="Calibri"/>
              </a:rPr>
              <a:t>, plus la recompense monte </a:t>
            </a:r>
            <a:r>
              <a:rPr sz="180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80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800" b="0" i="1" dirty="0" err="1">
                <a:solidFill>
                  <a:srgbClr val="6B7280"/>
                </a:solidFill>
                <a:latin typeface="Calibri"/>
              </a:rPr>
              <a:t>valeur</a:t>
            </a:r>
            <a:r>
              <a:rPr lang="gsw-FR" i="1" dirty="0">
                <a:solidFill>
                  <a:srgbClr val="6B7280"/>
                </a:solidFill>
                <a:latin typeface="Calibri"/>
              </a:rPr>
              <a:t> : sur la roue de fortune</a:t>
            </a:r>
            <a:endParaRPr sz="1800" b="0" i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2834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zSystems"/>
              </a:rPr>
              <a:t>Cadeau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28346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1F2937"/>
                </a:solidFill>
                <a:latin typeface="Calibri"/>
              </a:rPr>
              <a:t>Palier d'entree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83464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1 cadeau par palier remporte</a:t>
            </a:r>
          </a:p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 la roue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37744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651760"/>
            <a:ext cx="2834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zSystems"/>
              </a:rPr>
              <a:t>Cadeau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291840"/>
            <a:ext cx="28346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Palier intermediaire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389120"/>
            <a:ext cx="283464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1 cadeau ou bouquet selon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la famille de produits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37744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2651760"/>
            <a:ext cx="2834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zSystems"/>
              </a:rPr>
              <a:t>Cadeau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283464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Palier premium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389120"/>
            <a:ext cx="2834640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Bouquet de 2 cadeaux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complementaires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0" i="1">
                <a:solidFill>
                  <a:srgbClr val="1F2937"/>
                </a:solidFill>
                <a:latin typeface="Calibri"/>
              </a:rPr>
              <a:t>14 paliers de chiffre d'affaires  -  3 niveaux de recompense par palier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La roue de la fortune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Comment ca marche  -  3 etapes</a:t>
            </a:r>
          </a:p>
        </p:txBody>
      </p:sp>
      <p:pic>
        <p:nvPicPr>
          <p:cNvPr id="10" name="Picture 9" descr="wheel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4572000" cy="4572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852160" y="2377440"/>
            <a:ext cx="777240" cy="777240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0" y="2487168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zSystem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37744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zSystems"/>
              </a:rPr>
              <a:t>Le client atteint un palier de 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834640"/>
            <a:ext cx="5486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14 paliers definis selon les volumes acheter sur la periode.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3657600"/>
            <a:ext cx="777240" cy="777240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3767328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zSystem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65760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zSystems"/>
              </a:rPr>
              <a:t>Il fait tourner la roue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114800"/>
            <a:ext cx="5486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3 cadeaux possibles - chaque secteur represente un palier de recompense.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0" y="4937760"/>
            <a:ext cx="777240" cy="777240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0" y="5047488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zSystem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93776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zSystems"/>
              </a:rPr>
              <a:t>Il choisit son cadeau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394960"/>
            <a:ext cx="5486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Le client repart avec un cadeau dont la valeur correspond a son 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Soundbar Xiaomi 2.1 ch (Black)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AZATECH 50" 50H2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Hisense 43" 4K UHD + Apple AirPods Pro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Guitare Ibanez electrique blanche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Samsung 50" 4K UHD Crystal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Xiaomi 43" 4K + Apple Watch Series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Xiaomi A Pro 43" 4K UHD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TCL 65" QLED 4K UHD Google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TCL 55" QLED 4K + PlayStation 5 Slim 1To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Lave-vaisselle LG 13 couverts inox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Lave-linge LG 10.5kg TurboWash Steam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Samsung 75" Crystal 4K + PlayStation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Lave-linge LG 8kg DirectDrive Wi-Fi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Frigo Sharp 560L Inverter 4 portes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TCL 75" QLED + Lave-linge LG 10.5kg AI DD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LG QNED70 55" 4K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Frigo Infiniton SBS 588BVA 483L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Lave-linge LG 15kg + Seche 8kg + Frigo Sharp 560L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Frigo Skyworth Side by Side 473L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Samsung 85" Crystal UHD 4K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Samsung 85" + Frigo Whirlpool 561L Combine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Samsung 75" Crystal 4K UHD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Samsung 55" OLED S85F Vision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iPhone 17 Pro Max 512Go + Frigo TCL Cross Door 635L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Lave-linge LG 15kg + Seche-linge 8kg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Apple iPhone 17 Pro Max 512Go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Samsung 77" OLED + Frigo Skyworth SBS 473L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Xiaomi S Mini LED 75"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Samsung Galaxy S25 Ultra 1To Titanium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LG 77" OLED + Lave-linge LG 10.5kg TurboWash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Samsung 65" QLED Q7F 4K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Samsung 77" OLED Vision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Galaxy S25 Ultra 1To + Galaxy Z Fold 6 512Go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LG 65" 4K OLED evo C5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Galaxy Z Fold 6 + Apple iPhone 17 Pro Max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LG 83" OLED + Apple iPhone 17 Pro Max 512Go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Frigo Whirlpool 260L Side by Side French Door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LG 77" OLED + TV LG 65" OLED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LG 83" OLED + Frigo Whirlpool 260L SBS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274320" cy="45720"/>
          </a:xfrm>
          <a:prstGeom prst="rect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3152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000" b="1" i="0">
                <a:solidFill>
                  <a:srgbClr val="1F2937"/>
                </a:solidFill>
                <a:latin typeface="zSystems"/>
              </a:rPr>
              <a:t>Palier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Roue de la fortune  -  3 cadeaux possibles</a:t>
            </a:r>
          </a:p>
        </p:txBody>
      </p:sp>
      <p:pic>
        <p:nvPicPr>
          <p:cNvPr id="10" name="Picture 9" descr="whee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5212080" cy="5212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828800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08192" y="199339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08192" y="2029968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7624A"/>
                </a:solidFill>
                <a:latin typeface="zSystem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4767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286000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LG 77" 4K OLED evo C5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10712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08192" y="35753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08192" y="361188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3B8083"/>
                </a:solidFill>
                <a:latin typeface="zSystem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2958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Cadeau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67912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TV LG 83" OLED + Frigo Whirlpool 260L SBS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992624"/>
            <a:ext cx="5852160" cy="1417320"/>
          </a:xfrm>
          <a:prstGeom prst="roundRect">
            <a:avLst>
              <a:gd name="adj" fmla="val 5000"/>
            </a:avLst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108192" y="5157216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519379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000" b="1" i="0">
                <a:solidFill>
                  <a:srgbClr val="FAD388"/>
                </a:solidFill>
                <a:latin typeface="zSyste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111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Cadeau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449824"/>
            <a:ext cx="48463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TV LG 83" OLED + TV LG 77" OLED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25A10-B997-0AEB-8B29-BEBA4AFE3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922656-121A-325D-CA47-1D7410EEFA6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B51B7E8-D85E-8129-366C-384310305634}"/>
              </a:ext>
            </a:extLst>
          </p:cNvPr>
          <p:cNvSpPr/>
          <p:nvPr/>
        </p:nvSpPr>
        <p:spPr>
          <a:xfrm>
            <a:off x="457200" y="274320"/>
            <a:ext cx="164592" cy="164592"/>
          </a:xfrm>
          <a:prstGeom prst="ellipse">
            <a:avLst/>
          </a:prstGeom>
          <a:solidFill>
            <a:srgbClr val="F7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FFBB98F-EB4F-ACB8-735B-595C8D17E42B}"/>
              </a:ext>
            </a:extLst>
          </p:cNvPr>
          <p:cNvSpPr/>
          <p:nvPr/>
        </p:nvSpPr>
        <p:spPr>
          <a:xfrm>
            <a:off x="658368" y="274320"/>
            <a:ext cx="164592" cy="164592"/>
          </a:xfrm>
          <a:prstGeom prst="ellipse">
            <a:avLst/>
          </a:prstGeom>
          <a:solidFill>
            <a:srgbClr val="3B8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6981A19-9341-2820-D633-CA47C6D4F94A}"/>
              </a:ext>
            </a:extLst>
          </p:cNvPr>
          <p:cNvSpPr/>
          <p:nvPr/>
        </p:nvSpPr>
        <p:spPr>
          <a:xfrm>
            <a:off x="859536" y="274320"/>
            <a:ext cx="164592" cy="164592"/>
          </a:xfrm>
          <a:prstGeom prst="ellipse">
            <a:avLst/>
          </a:prstGeom>
          <a:solidFill>
            <a:srgbClr val="FAD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28F5AC-81DF-BD2F-4F38-1EF99BBCE429}"/>
              </a:ext>
            </a:extLst>
          </p:cNvPr>
          <p:cNvSpPr txBox="1"/>
          <p:nvPr/>
        </p:nvSpPr>
        <p:spPr>
          <a:xfrm>
            <a:off x="1097280" y="237744"/>
            <a:ext cx="1828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zSystems"/>
              </a:rPr>
              <a:t>z.systems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F87EC68-D9CD-CC2C-B54D-58011721E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1353"/>
            <a:ext cx="12192000" cy="519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21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1033</Words>
  <Application>Microsoft Office PowerPoint</Application>
  <PresentationFormat>Grand écran</PresentationFormat>
  <Paragraphs>280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Arial</vt:lpstr>
      <vt:lpstr>Calibri</vt:lpstr>
      <vt:lpstr>zSystems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Meriem Benabad</dc:creator>
  <cp:keywords/>
  <dc:description>generated using python-pptx</dc:description>
  <cp:lastModifiedBy>Kamal SAGUEM</cp:lastModifiedBy>
  <cp:revision>4</cp:revision>
  <dcterms:created xsi:type="dcterms:W3CDTF">2013-01-27T09:14:16Z</dcterms:created>
  <dcterms:modified xsi:type="dcterms:W3CDTF">2026-05-08T17:06:55Z</dcterms:modified>
  <cp:category/>
</cp:coreProperties>
</file>